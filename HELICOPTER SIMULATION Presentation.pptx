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6" r:id="rId1"/>
  </p:sldMasterIdLst>
  <p:sldIdLst>
    <p:sldId id="256" r:id="rId2"/>
    <p:sldId id="268" r:id="rId3"/>
    <p:sldId id="257" r:id="rId4"/>
    <p:sldId id="258" r:id="rId5"/>
    <p:sldId id="267" r:id="rId6"/>
    <p:sldId id="260" r:id="rId7"/>
    <p:sldId id="261" r:id="rId8"/>
    <p:sldId id="269" r:id="rId9"/>
    <p:sldId id="270" r:id="rId10"/>
    <p:sldId id="271" r:id="rId11"/>
    <p:sldId id="272" r:id="rId12"/>
    <p:sldId id="273" r:id="rId13"/>
    <p:sldId id="274" r:id="rId14"/>
    <p:sldId id="275" r:id="rId15"/>
    <p:sldId id="264" r:id="rId16"/>
    <p:sldId id="265" r:id="rId17"/>
    <p:sldId id="266"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1486065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3844074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3571353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96F48A-54CD-4746-BF2C-095A083469EE}" type="datetimeFigureOut">
              <a:rPr lang="en-US" smtClean="0"/>
              <a:t>13-May-20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4246558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96F48A-54CD-4746-BF2C-095A083469EE}" type="datetimeFigureOut">
              <a:rPr lang="en-US" smtClean="0"/>
              <a:t>13-May-20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628838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96F48A-54CD-4746-BF2C-095A083469EE}" type="datetimeFigureOut">
              <a:rPr lang="en-US" smtClean="0"/>
              <a:t>13-May-20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3388771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96F48A-54CD-4746-BF2C-095A083469EE}" type="datetimeFigureOut">
              <a:rPr lang="en-US" smtClean="0"/>
              <a:t>13-May-20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2910953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96F48A-54CD-4746-BF2C-095A083469EE}" type="datetimeFigureOut">
              <a:rPr lang="en-US" smtClean="0"/>
              <a:t>13-May-20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1966606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96F48A-54CD-4746-BF2C-095A083469EE}" type="datetimeFigureOut">
              <a:rPr lang="en-US" smtClean="0"/>
              <a:t>13-May-20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2563975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96F48A-54CD-4746-BF2C-095A083469EE}" type="datetimeFigureOut">
              <a:rPr lang="en-US" smtClean="0"/>
              <a:t>13-May-20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349475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1917491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3207947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1144071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774071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1093883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2790842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96F48A-54CD-4746-BF2C-095A083469EE}" type="datetimeFigureOut">
              <a:rPr lang="en-US" smtClean="0"/>
              <a:t>13-May-20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1A0B25-6065-4915-AC2F-3EAB86433208}" type="slidenum">
              <a:rPr lang="en-US" smtClean="0"/>
              <a:t>‹#›</a:t>
            </a:fld>
            <a:endParaRPr lang="en-US"/>
          </a:p>
        </p:txBody>
      </p:sp>
    </p:spTree>
    <p:extLst>
      <p:ext uri="{BB962C8B-B14F-4D97-AF65-F5344CB8AC3E}">
        <p14:creationId xmlns:p14="http://schemas.microsoft.com/office/powerpoint/2010/main" val="1564097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496F48A-54CD-4746-BF2C-095A083469EE}" type="datetimeFigureOut">
              <a:rPr lang="en-US" smtClean="0"/>
              <a:t>13-May-20</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D1A0B25-6065-4915-AC2F-3EAB86433208}" type="slidenum">
              <a:rPr lang="en-US" smtClean="0"/>
              <a:t>‹#›</a:t>
            </a:fld>
            <a:endParaRPr lang="en-US"/>
          </a:p>
        </p:txBody>
      </p:sp>
    </p:spTree>
    <p:extLst>
      <p:ext uri="{BB962C8B-B14F-4D97-AF65-F5344CB8AC3E}">
        <p14:creationId xmlns:p14="http://schemas.microsoft.com/office/powerpoint/2010/main" val="1284125857"/>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pyopengl.sourceforge.net/documentation/index.html" TargetMode="External"/><Relationship Id="rId2" Type="http://schemas.openxmlformats.org/officeDocument/2006/relationships/hyperlink" Target="https://www.opengl.org/" TargetMode="External"/><Relationship Id="rId1" Type="http://schemas.openxmlformats.org/officeDocument/2006/relationships/slideLayout" Target="../slideLayouts/slideLayout2.xml"/><Relationship Id="rId4" Type="http://schemas.openxmlformats.org/officeDocument/2006/relationships/hyperlink" Target="https://pillow.readthedocs.io/en/stabl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00575-3B8C-44DC-9D51-3F39D6583775}"/>
              </a:ext>
            </a:extLst>
          </p:cNvPr>
          <p:cNvSpPr>
            <a:spLocks noGrp="1"/>
          </p:cNvSpPr>
          <p:nvPr>
            <p:ph type="ctrTitle"/>
          </p:nvPr>
        </p:nvSpPr>
        <p:spPr/>
        <p:txBody>
          <a:bodyPr>
            <a:normAutofit/>
          </a:bodyPr>
          <a:lstStyle/>
          <a:p>
            <a:r>
              <a:rPr lang="en-US" sz="5600"/>
              <a:t>HELICOPTER SIMULATION </a:t>
            </a:r>
          </a:p>
        </p:txBody>
      </p:sp>
      <p:sp>
        <p:nvSpPr>
          <p:cNvPr id="3" name="Subtitle 2">
            <a:extLst>
              <a:ext uri="{FF2B5EF4-FFF2-40B4-BE49-F238E27FC236}">
                <a16:creationId xmlns:a16="http://schemas.microsoft.com/office/drawing/2014/main" id="{6D29E223-66ED-4118-A8D4-9475FF4F59F7}"/>
              </a:ext>
            </a:extLst>
          </p:cNvPr>
          <p:cNvSpPr>
            <a:spLocks noGrp="1"/>
          </p:cNvSpPr>
          <p:nvPr>
            <p:ph type="subTitle" idx="1"/>
          </p:nvPr>
        </p:nvSpPr>
        <p:spPr>
          <a:xfrm>
            <a:off x="4515377" y="3996267"/>
            <a:ext cx="6987645" cy="1889628"/>
          </a:xfrm>
        </p:spPr>
        <p:txBody>
          <a:bodyPr>
            <a:normAutofit/>
          </a:bodyPr>
          <a:lstStyle/>
          <a:p>
            <a:pPr algn="ctr"/>
            <a:r>
              <a:rPr lang="en-US" sz="3600"/>
              <a:t>CGV MINI PROJECT</a:t>
            </a:r>
          </a:p>
          <a:p>
            <a:pPr algn="l"/>
            <a:r>
              <a:rPr lang="en-US" sz="2400">
                <a:latin typeface="Cambria" panose="02040503050406030204" pitchFamily="18" charset="0"/>
                <a:ea typeface="Cambria" panose="02040503050406030204" pitchFamily="18" charset="0"/>
              </a:rPr>
              <a:t>PRACHITI JB  -   1RG17CS009</a:t>
            </a:r>
          </a:p>
          <a:p>
            <a:pPr algn="l"/>
            <a:r>
              <a:rPr lang="en-US" sz="2400">
                <a:latin typeface="Cambria" panose="02040503050406030204" pitchFamily="18" charset="0"/>
                <a:ea typeface="Cambria" panose="02040503050406030204" pitchFamily="18" charset="0"/>
              </a:rPr>
              <a:t>PRAJWAL MANI  -   1RG17CS037  </a:t>
            </a:r>
          </a:p>
          <a:p>
            <a:pPr algn="ctr"/>
            <a:endParaRPr lang="en-US" sz="2800"/>
          </a:p>
        </p:txBody>
      </p:sp>
    </p:spTree>
    <p:extLst>
      <p:ext uri="{BB962C8B-B14F-4D97-AF65-F5344CB8AC3E}">
        <p14:creationId xmlns:p14="http://schemas.microsoft.com/office/powerpoint/2010/main" val="485026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EC082-650D-4216-9D6F-BBC1AAD0FA49}"/>
              </a:ext>
            </a:extLst>
          </p:cNvPr>
          <p:cNvSpPr>
            <a:spLocks noGrp="1"/>
          </p:cNvSpPr>
          <p:nvPr>
            <p:ph type="title"/>
          </p:nvPr>
        </p:nvSpPr>
        <p:spPr>
          <a:xfrm>
            <a:off x="1598610" y="401715"/>
            <a:ext cx="10018713" cy="922537"/>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AGENDA</a:t>
            </a:r>
          </a:p>
        </p:txBody>
      </p:sp>
      <p:sp>
        <p:nvSpPr>
          <p:cNvPr id="3" name="Content Placeholder 2">
            <a:extLst>
              <a:ext uri="{FF2B5EF4-FFF2-40B4-BE49-F238E27FC236}">
                <a16:creationId xmlns:a16="http://schemas.microsoft.com/office/drawing/2014/main" id="{67528F6A-0342-4313-B00B-CDECDBB912EE}"/>
              </a:ext>
            </a:extLst>
          </p:cNvPr>
          <p:cNvSpPr>
            <a:spLocks noGrp="1"/>
          </p:cNvSpPr>
          <p:nvPr>
            <p:ph sz="half" idx="1"/>
          </p:nvPr>
        </p:nvSpPr>
        <p:spPr>
          <a:xfrm>
            <a:off x="1598610" y="1828800"/>
            <a:ext cx="4895055" cy="3704948"/>
          </a:xfrm>
        </p:spPr>
        <p:txBody>
          <a:bodyPr/>
          <a:lstStyle/>
          <a:p>
            <a:pPr>
              <a:buFont typeface="Wingdings" panose="05000000000000000000" pitchFamily="2" charset="2"/>
              <a:buChar char="Ø"/>
            </a:pPr>
            <a:r>
              <a:rPr lang="en-US" sz="2800">
                <a:latin typeface="Cambria" panose="02040503050406030204" pitchFamily="18" charset="0"/>
                <a:ea typeface="Cambria" panose="02040503050406030204" pitchFamily="18" charset="0"/>
              </a:rPr>
              <a:t> </a:t>
            </a: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Abstract</a:t>
            </a:r>
          </a:p>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Introduction</a:t>
            </a:r>
          </a:p>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System Requirements </a:t>
            </a:r>
          </a:p>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About the Project</a:t>
            </a:r>
          </a:p>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Detailed Design</a:t>
            </a:r>
          </a:p>
          <a:p>
            <a:pPr>
              <a:buFont typeface="Wingdings" panose="05000000000000000000" pitchFamily="2" charset="2"/>
              <a:buChar char="Ø"/>
            </a:pPr>
            <a:endParaRPr lang="en-US">
              <a:latin typeface="Cambria" panose="02040503050406030204" pitchFamily="18" charset="0"/>
              <a:ea typeface="Cambria" panose="02040503050406030204" pitchFamily="18" charset="0"/>
            </a:endParaRPr>
          </a:p>
        </p:txBody>
      </p:sp>
      <p:sp>
        <p:nvSpPr>
          <p:cNvPr id="4" name="Content Placeholder 3">
            <a:extLst>
              <a:ext uri="{FF2B5EF4-FFF2-40B4-BE49-F238E27FC236}">
                <a16:creationId xmlns:a16="http://schemas.microsoft.com/office/drawing/2014/main" id="{2EA5A5A9-40E9-497A-A56F-668ABF3D859D}"/>
              </a:ext>
            </a:extLst>
          </p:cNvPr>
          <p:cNvSpPr>
            <a:spLocks noGrp="1"/>
          </p:cNvSpPr>
          <p:nvPr>
            <p:ph sz="half" idx="2"/>
          </p:nvPr>
        </p:nvSpPr>
        <p:spPr>
          <a:xfrm>
            <a:off x="6722267" y="1544715"/>
            <a:ext cx="4895056" cy="3989033"/>
          </a:xfrm>
        </p:spPr>
        <p:txBody>
          <a:bodyPr>
            <a:normAutofit/>
          </a:bodyPr>
          <a:lstStyle/>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Implementation</a:t>
            </a:r>
          </a:p>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Testing and Design</a:t>
            </a:r>
          </a:p>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Conclusion</a:t>
            </a:r>
          </a:p>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Future Enhancements </a:t>
            </a:r>
          </a:p>
          <a:p>
            <a:pPr>
              <a:buFont typeface="Wingdings" panose="05000000000000000000" pitchFamily="2" charset="2"/>
              <a:buChar char="Ø"/>
            </a:pPr>
            <a:r>
              <a:rPr lang="en-US" sz="2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References</a:t>
            </a:r>
          </a:p>
        </p:txBody>
      </p:sp>
    </p:spTree>
    <p:extLst>
      <p:ext uri="{BB962C8B-B14F-4D97-AF65-F5344CB8AC3E}">
        <p14:creationId xmlns:p14="http://schemas.microsoft.com/office/powerpoint/2010/main" val="295780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FC872-FE3F-4932-AB83-82AC0B2D9EDB}"/>
              </a:ext>
            </a:extLst>
          </p:cNvPr>
          <p:cNvSpPr>
            <a:spLocks noGrp="1"/>
          </p:cNvSpPr>
          <p:nvPr>
            <p:ph type="title"/>
          </p:nvPr>
        </p:nvSpPr>
        <p:spPr>
          <a:xfrm>
            <a:off x="1573087" y="284087"/>
            <a:ext cx="10018713" cy="967665"/>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ABTRACT</a:t>
            </a:r>
          </a:p>
        </p:txBody>
      </p:sp>
      <p:sp>
        <p:nvSpPr>
          <p:cNvPr id="3" name="Content Placeholder 2">
            <a:extLst>
              <a:ext uri="{FF2B5EF4-FFF2-40B4-BE49-F238E27FC236}">
                <a16:creationId xmlns:a16="http://schemas.microsoft.com/office/drawing/2014/main" id="{4FE958E3-90AC-4BF0-A540-6E32D47C6F49}"/>
              </a:ext>
            </a:extLst>
          </p:cNvPr>
          <p:cNvSpPr>
            <a:spLocks noGrp="1"/>
          </p:cNvSpPr>
          <p:nvPr>
            <p:ph idx="1"/>
          </p:nvPr>
        </p:nvSpPr>
        <p:spPr>
          <a:xfrm>
            <a:off x="1573086" y="1367162"/>
            <a:ext cx="10018713" cy="4388528"/>
          </a:xfrm>
        </p:spPr>
        <p:txBody>
          <a:bodyPr>
            <a:normAutofit/>
          </a:bodyPr>
          <a:lstStyle/>
          <a:p>
            <a:r>
              <a:rPr lang="en-US">
                <a:latin typeface="Cambria" panose="02040503050406030204" pitchFamily="18" charset="0"/>
                <a:ea typeface="Cambria" panose="02040503050406030204" pitchFamily="18" charset="0"/>
              </a:rPr>
              <a:t>This project gives us an insight into the use of OpenGL API for Helicopter Simulation with Python as a supporting language.</a:t>
            </a:r>
          </a:p>
          <a:p>
            <a:r>
              <a:rPr lang="en-US">
                <a:latin typeface="Cambria" panose="02040503050406030204" pitchFamily="18" charset="0"/>
                <a:ea typeface="Cambria" panose="02040503050406030204" pitchFamily="18" charset="0"/>
              </a:rPr>
              <a:t>The main objective is to allow the user to interact with rich graphic features.</a:t>
            </a:r>
          </a:p>
          <a:p>
            <a:r>
              <a:rPr lang="en-US">
                <a:latin typeface="Cambria" panose="02040503050406030204" pitchFamily="18" charset="0"/>
                <a:ea typeface="Cambria" panose="02040503050406030204" pitchFamily="18" charset="0"/>
              </a:rPr>
              <a:t>Graphical perspective is rendered from the viewpoint of the user and also it allows the user to strongly control through multiple camera positions.</a:t>
            </a:r>
          </a:p>
          <a:p>
            <a:r>
              <a:rPr lang="en-US">
                <a:latin typeface="Cambria" panose="02040503050406030204" pitchFamily="18" charset="0"/>
                <a:ea typeface="Cambria" panose="02040503050406030204" pitchFamily="18" charset="0"/>
              </a:rPr>
              <a:t>This implementation provides the application developers with a flexible way to produce quality graphics.</a:t>
            </a:r>
          </a:p>
          <a:p>
            <a:r>
              <a:rPr lang="en-US">
                <a:latin typeface="Cambria" panose="02040503050406030204" pitchFamily="18" charset="0"/>
                <a:ea typeface="Cambria" panose="02040503050406030204" pitchFamily="18" charset="0"/>
              </a:rPr>
              <a:t>An accurate, effective and real-time display is coded with the help of OpenGL API.</a:t>
            </a:r>
            <a:endParaRPr lang="en-US"/>
          </a:p>
        </p:txBody>
      </p:sp>
    </p:spTree>
    <p:extLst>
      <p:ext uri="{BB962C8B-B14F-4D97-AF65-F5344CB8AC3E}">
        <p14:creationId xmlns:p14="http://schemas.microsoft.com/office/powerpoint/2010/main" val="4072090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88154-530E-41A7-BD10-3AEC3E73D825}"/>
              </a:ext>
            </a:extLst>
          </p:cNvPr>
          <p:cNvSpPr>
            <a:spLocks noGrp="1"/>
          </p:cNvSpPr>
          <p:nvPr>
            <p:ph type="title"/>
          </p:nvPr>
        </p:nvSpPr>
        <p:spPr>
          <a:xfrm>
            <a:off x="1546455" y="328474"/>
            <a:ext cx="10018713" cy="985422"/>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INTRODUCTION</a:t>
            </a:r>
          </a:p>
        </p:txBody>
      </p:sp>
      <p:sp>
        <p:nvSpPr>
          <p:cNvPr id="3" name="Content Placeholder 2">
            <a:extLst>
              <a:ext uri="{FF2B5EF4-FFF2-40B4-BE49-F238E27FC236}">
                <a16:creationId xmlns:a16="http://schemas.microsoft.com/office/drawing/2014/main" id="{37E51877-EAD2-4CFC-8E2F-8E8A0086E1F4}"/>
              </a:ext>
            </a:extLst>
          </p:cNvPr>
          <p:cNvSpPr>
            <a:spLocks noGrp="1"/>
          </p:cNvSpPr>
          <p:nvPr>
            <p:ph idx="1"/>
          </p:nvPr>
        </p:nvSpPr>
        <p:spPr>
          <a:xfrm>
            <a:off x="1546455" y="1464817"/>
            <a:ext cx="10018713" cy="4326384"/>
          </a:xfrm>
        </p:spPr>
        <p:txBody>
          <a:bodyPr>
            <a:normAutofit/>
          </a:bodyPr>
          <a:lstStyle/>
          <a:p>
            <a:r>
              <a:rPr lang="en-US" sz="2000">
                <a:latin typeface="Cambria" panose="02040503050406030204" pitchFamily="18" charset="0"/>
                <a:ea typeface="Cambria" panose="02040503050406030204" pitchFamily="18" charset="0"/>
              </a:rPr>
              <a:t>Graphics provides one of the most natural way of communicating within a computer due to highly developed 2D and 3D pattern recognition abilities that allow us to perceive and process pictorial data rapidly and effectively</a:t>
            </a:r>
          </a:p>
          <a:p>
            <a:r>
              <a:rPr lang="en-US" sz="2000">
                <a:latin typeface="Cambria" panose="02040503050406030204" pitchFamily="18" charset="0"/>
                <a:ea typeface="Cambria" panose="02040503050406030204" pitchFamily="18" charset="0"/>
              </a:rPr>
              <a:t>Since it is largely interactive, the user can control the contents, structure,  appearance of the objects and of the displayed images by using input devices such as keyboard, mouse or touchscreen</a:t>
            </a:r>
          </a:p>
          <a:p>
            <a:r>
              <a:rPr lang="en-US" sz="2000">
                <a:latin typeface="Cambria" panose="02040503050406030204" pitchFamily="18" charset="0"/>
                <a:ea typeface="Cambria" panose="02040503050406030204" pitchFamily="18" charset="0"/>
              </a:rPr>
              <a:t>Interface OpenGL is an API offering various functions to implement primitives, models and images to create, manipulate and render lightning, coloring and viewing the model.</a:t>
            </a:r>
          </a:p>
          <a:p>
            <a:r>
              <a:rPr lang="en-US" sz="2000">
                <a:latin typeface="Cambria" panose="02040503050406030204" pitchFamily="18" charset="0"/>
                <a:ea typeface="Cambria" panose="02040503050406030204" pitchFamily="18" charset="0"/>
              </a:rPr>
              <a:t>It offers different coordinate systems and frames along with translation, rotation and scaling of objects.</a:t>
            </a:r>
          </a:p>
          <a:p>
            <a:r>
              <a:rPr lang="en-US" sz="2000">
                <a:latin typeface="Cambria" panose="02040503050406030204" pitchFamily="18" charset="0"/>
                <a:ea typeface="Cambria" panose="02040503050406030204" pitchFamily="18" charset="0"/>
              </a:rPr>
              <a:t>There are 3 main libraries which come into play, Main GL, GLU(OpenGL utility library) and GLUT(OpenGL utility toolkit).</a:t>
            </a:r>
          </a:p>
        </p:txBody>
      </p:sp>
    </p:spTree>
    <p:extLst>
      <p:ext uri="{BB962C8B-B14F-4D97-AF65-F5344CB8AC3E}">
        <p14:creationId xmlns:p14="http://schemas.microsoft.com/office/powerpoint/2010/main" val="116107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19FE6-AA8E-4FBB-BB1A-8D790BA97751}"/>
              </a:ext>
            </a:extLst>
          </p:cNvPr>
          <p:cNvSpPr>
            <a:spLocks noGrp="1"/>
          </p:cNvSpPr>
          <p:nvPr>
            <p:ph type="title"/>
          </p:nvPr>
        </p:nvSpPr>
        <p:spPr>
          <a:xfrm>
            <a:off x="1598610" y="284086"/>
            <a:ext cx="10018713" cy="1074198"/>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SYSTEM REQUIREMENTS</a:t>
            </a:r>
          </a:p>
        </p:txBody>
      </p:sp>
      <p:sp>
        <p:nvSpPr>
          <p:cNvPr id="3" name="Content Placeholder 2">
            <a:extLst>
              <a:ext uri="{FF2B5EF4-FFF2-40B4-BE49-F238E27FC236}">
                <a16:creationId xmlns:a16="http://schemas.microsoft.com/office/drawing/2014/main" id="{2A109F07-FE25-4A01-8649-44237B99BB6D}"/>
              </a:ext>
            </a:extLst>
          </p:cNvPr>
          <p:cNvSpPr>
            <a:spLocks noGrp="1"/>
          </p:cNvSpPr>
          <p:nvPr>
            <p:ph sz="half" idx="1"/>
          </p:nvPr>
        </p:nvSpPr>
        <p:spPr>
          <a:xfrm>
            <a:off x="1598610" y="1597981"/>
            <a:ext cx="4895055" cy="4193219"/>
          </a:xfrm>
        </p:spPr>
        <p:txBody>
          <a:bodyPr>
            <a:normAutofit lnSpcReduction="10000"/>
          </a:bodyPr>
          <a:lstStyle/>
          <a:p>
            <a:pPr>
              <a:buFont typeface="Wingdings" panose="05000000000000000000" pitchFamily="2" charset="2"/>
              <a:buChar char="q"/>
            </a:pPr>
            <a:r>
              <a:rPr lang="en-US" sz="2400">
                <a:latin typeface="Cambria" panose="02040503050406030204" pitchFamily="18" charset="0"/>
                <a:ea typeface="Cambria" panose="02040503050406030204" pitchFamily="18" charset="0"/>
              </a:rPr>
              <a:t> </a:t>
            </a:r>
            <a:r>
              <a:rPr lang="en-US" sz="240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HARDWARE</a:t>
            </a:r>
          </a:p>
          <a:p>
            <a:r>
              <a:rPr lang="en-US" sz="2400">
                <a:latin typeface="Cambria" panose="02040503050406030204" pitchFamily="18" charset="0"/>
                <a:ea typeface="Cambria" panose="02040503050406030204" pitchFamily="18" charset="0"/>
              </a:rPr>
              <a:t>Processor – Intel Pentium D CPU with 2.66 GHz</a:t>
            </a:r>
          </a:p>
          <a:p>
            <a:r>
              <a:rPr lang="en-US" sz="2400">
                <a:latin typeface="Cambria" panose="02040503050406030204" pitchFamily="18" charset="0"/>
                <a:ea typeface="Cambria" panose="02040503050406030204" pitchFamily="18" charset="0"/>
              </a:rPr>
              <a:t> Memory type – RAM Memory of 768MB</a:t>
            </a:r>
          </a:p>
          <a:p>
            <a:r>
              <a:rPr lang="en-US" sz="2400">
                <a:latin typeface="Cambria" panose="02040503050406030204" pitchFamily="18" charset="0"/>
                <a:ea typeface="Cambria" panose="02040503050406030204" pitchFamily="18" charset="0"/>
              </a:rPr>
              <a:t> Mouse</a:t>
            </a:r>
          </a:p>
          <a:p>
            <a:r>
              <a:rPr lang="en-US" sz="2400">
                <a:latin typeface="Cambria" panose="02040503050406030204" pitchFamily="18" charset="0"/>
                <a:ea typeface="Cambria" panose="02040503050406030204" pitchFamily="18" charset="0"/>
              </a:rPr>
              <a:t> Keyboard 108 Standard</a:t>
            </a:r>
          </a:p>
          <a:p>
            <a:r>
              <a:rPr lang="en-US" sz="2400">
                <a:latin typeface="Cambria" panose="02040503050406030204" pitchFamily="18" charset="0"/>
                <a:ea typeface="Cambria" panose="02040503050406030204" pitchFamily="18" charset="0"/>
              </a:rPr>
              <a:t> Monitor Resolution – 800 x 600</a:t>
            </a:r>
          </a:p>
        </p:txBody>
      </p:sp>
      <p:sp>
        <p:nvSpPr>
          <p:cNvPr id="4" name="Content Placeholder 3">
            <a:extLst>
              <a:ext uri="{FF2B5EF4-FFF2-40B4-BE49-F238E27FC236}">
                <a16:creationId xmlns:a16="http://schemas.microsoft.com/office/drawing/2014/main" id="{E0A93A47-7777-4C4D-A817-B61EB98D6687}"/>
              </a:ext>
            </a:extLst>
          </p:cNvPr>
          <p:cNvSpPr>
            <a:spLocks noGrp="1"/>
          </p:cNvSpPr>
          <p:nvPr>
            <p:ph sz="half" idx="2"/>
          </p:nvPr>
        </p:nvSpPr>
        <p:spPr>
          <a:xfrm>
            <a:off x="6722267" y="1846554"/>
            <a:ext cx="4895056" cy="4193219"/>
          </a:xfrm>
        </p:spPr>
        <p:txBody>
          <a:bodyPr>
            <a:normAutofit lnSpcReduction="10000"/>
          </a:bodyPr>
          <a:lstStyle/>
          <a:p>
            <a:pPr>
              <a:buFont typeface="Wingdings" panose="05000000000000000000" pitchFamily="2" charset="2"/>
              <a:buChar char="q"/>
            </a:pPr>
            <a:r>
              <a:rPr lang="en-US" sz="2400">
                <a:latin typeface="Cambria" panose="02040503050406030204" pitchFamily="18" charset="0"/>
                <a:ea typeface="Cambria" panose="02040503050406030204" pitchFamily="18" charset="0"/>
              </a:rPr>
              <a:t> </a:t>
            </a:r>
            <a:r>
              <a:rPr lang="en-US" sz="240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SOFTWARE</a:t>
            </a:r>
          </a:p>
          <a:p>
            <a:r>
              <a:rPr lang="en-US" sz="2400">
                <a:latin typeface="Cambria" panose="02040503050406030204" pitchFamily="18" charset="0"/>
                <a:ea typeface="Cambria" panose="02040503050406030204" pitchFamily="18" charset="0"/>
              </a:rPr>
              <a:t>Operating system - Windows 7 onwards</a:t>
            </a:r>
          </a:p>
          <a:p>
            <a:r>
              <a:rPr lang="en-US" sz="2400">
                <a:latin typeface="Cambria" panose="02040503050406030204" pitchFamily="18" charset="0"/>
                <a:ea typeface="Cambria" panose="02040503050406030204" pitchFamily="18" charset="0"/>
              </a:rPr>
              <a:t>Programming language version – Python 3.x</a:t>
            </a:r>
          </a:p>
          <a:p>
            <a:r>
              <a:rPr lang="en-US" sz="2400">
                <a:latin typeface="Cambria" panose="02040503050406030204" pitchFamily="18" charset="0"/>
                <a:ea typeface="Cambria" panose="02040503050406030204" pitchFamily="18" charset="0"/>
              </a:rPr>
              <a:t>Modules – PyOpenGL(V3.1.5), PyOpenGL-accelerate(V3.1.5), Pillow Library(V7.1.2)</a:t>
            </a:r>
          </a:p>
          <a:p>
            <a:r>
              <a:rPr lang="en-US" sz="2400">
                <a:latin typeface="Cambria" panose="02040503050406030204" pitchFamily="18" charset="0"/>
                <a:ea typeface="Cambria" panose="02040503050406030204" pitchFamily="18" charset="0"/>
              </a:rPr>
              <a:t> Any text editor can be used like Pycharm, VS Code etc</a:t>
            </a:r>
          </a:p>
        </p:txBody>
      </p:sp>
    </p:spTree>
    <p:extLst>
      <p:ext uri="{BB962C8B-B14F-4D97-AF65-F5344CB8AC3E}">
        <p14:creationId xmlns:p14="http://schemas.microsoft.com/office/powerpoint/2010/main" val="3271045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9FB9-4CC3-4B79-B3E7-ECDDE6C2AAB3}"/>
              </a:ext>
            </a:extLst>
          </p:cNvPr>
          <p:cNvSpPr>
            <a:spLocks noGrp="1"/>
          </p:cNvSpPr>
          <p:nvPr>
            <p:ph type="title"/>
          </p:nvPr>
        </p:nvSpPr>
        <p:spPr>
          <a:xfrm>
            <a:off x="1617476" y="304061"/>
            <a:ext cx="10018713" cy="894426"/>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ABOUT THE PROJECT</a:t>
            </a:r>
          </a:p>
        </p:txBody>
      </p:sp>
      <p:sp>
        <p:nvSpPr>
          <p:cNvPr id="3" name="Content Placeholder 2">
            <a:extLst>
              <a:ext uri="{FF2B5EF4-FFF2-40B4-BE49-F238E27FC236}">
                <a16:creationId xmlns:a16="http://schemas.microsoft.com/office/drawing/2014/main" id="{0CFBF342-C3D8-4AAA-88D0-281902B119DC}"/>
              </a:ext>
            </a:extLst>
          </p:cNvPr>
          <p:cNvSpPr>
            <a:spLocks noGrp="1"/>
          </p:cNvSpPr>
          <p:nvPr>
            <p:ph idx="1"/>
          </p:nvPr>
        </p:nvSpPr>
        <p:spPr>
          <a:xfrm>
            <a:off x="1617476" y="1349406"/>
            <a:ext cx="10018713" cy="4202098"/>
          </a:xfrm>
        </p:spPr>
        <p:txBody>
          <a:bodyPr>
            <a:normAutofit/>
          </a:bodyPr>
          <a:lstStyle/>
          <a:p>
            <a:r>
              <a:rPr lang="en-US" sz="2000">
                <a:latin typeface="Cambria" panose="02040503050406030204" pitchFamily="18" charset="0"/>
                <a:ea typeface="Cambria" panose="02040503050406030204" pitchFamily="18" charset="0"/>
              </a:rPr>
              <a:t>This project gives us an overview into the coordinate systems of a real time graphics rendered to peform different movements of helicopter depending on the main rotor blade and the tail rotor blade.</a:t>
            </a:r>
          </a:p>
          <a:p>
            <a:r>
              <a:rPr lang="en-US" sz="2000">
                <a:latin typeface="Cambria" panose="02040503050406030204" pitchFamily="18" charset="0"/>
                <a:ea typeface="Cambria" panose="02040503050406030204" pitchFamily="18" charset="0"/>
              </a:rPr>
              <a:t>It gives a top, front, back and bottom view of the helicopter with respect to camera position which is done by using the field of view(FOV) in degrees.</a:t>
            </a:r>
          </a:p>
          <a:p>
            <a:r>
              <a:rPr lang="en-US" sz="2000">
                <a:latin typeface="Cambria" panose="02040503050406030204" pitchFamily="18" charset="0"/>
                <a:ea typeface="Cambria" panose="02040503050406030204" pitchFamily="18" charset="0"/>
              </a:rPr>
              <a:t> There is a basic use of classes and objects along with calling the various methods using the global variables declared.</a:t>
            </a:r>
            <a:endParaRPr lang="en-US" sz="2000"/>
          </a:p>
        </p:txBody>
      </p:sp>
    </p:spTree>
    <p:extLst>
      <p:ext uri="{BB962C8B-B14F-4D97-AF65-F5344CB8AC3E}">
        <p14:creationId xmlns:p14="http://schemas.microsoft.com/office/powerpoint/2010/main" val="3563139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C1481-1FC4-4E0F-AF64-488E87C9C0FC}"/>
              </a:ext>
            </a:extLst>
          </p:cNvPr>
          <p:cNvSpPr>
            <a:spLocks noGrp="1"/>
          </p:cNvSpPr>
          <p:nvPr>
            <p:ph type="title"/>
          </p:nvPr>
        </p:nvSpPr>
        <p:spPr>
          <a:xfrm>
            <a:off x="1573088" y="348449"/>
            <a:ext cx="10018713" cy="887026"/>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DETAILED DESIGN</a:t>
            </a:r>
          </a:p>
        </p:txBody>
      </p:sp>
      <p:pic>
        <p:nvPicPr>
          <p:cNvPr id="3" name="Picture 2">
            <a:extLst>
              <a:ext uri="{FF2B5EF4-FFF2-40B4-BE49-F238E27FC236}">
                <a16:creationId xmlns:a16="http://schemas.microsoft.com/office/drawing/2014/main" id="{8630932E-D4C1-425E-83DD-808E5F679C08}"/>
              </a:ext>
            </a:extLst>
          </p:cNvPr>
          <p:cNvPicPr>
            <a:picLocks noChangeAspect="1"/>
          </p:cNvPicPr>
          <p:nvPr/>
        </p:nvPicPr>
        <p:blipFill>
          <a:blip r:embed="rId2"/>
          <a:stretch>
            <a:fillRect/>
          </a:stretch>
        </p:blipFill>
        <p:spPr>
          <a:xfrm>
            <a:off x="4110360" y="1235474"/>
            <a:ext cx="4568639" cy="5183081"/>
          </a:xfrm>
          <a:prstGeom prst="rect">
            <a:avLst/>
          </a:prstGeom>
        </p:spPr>
      </p:pic>
    </p:spTree>
    <p:extLst>
      <p:ext uri="{BB962C8B-B14F-4D97-AF65-F5344CB8AC3E}">
        <p14:creationId xmlns:p14="http://schemas.microsoft.com/office/powerpoint/2010/main" val="4229818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5AA62-2BA2-4ED9-8ADA-8537B16A8DE8}"/>
              </a:ext>
            </a:extLst>
          </p:cNvPr>
          <p:cNvSpPr>
            <a:spLocks noGrp="1"/>
          </p:cNvSpPr>
          <p:nvPr>
            <p:ph type="title"/>
          </p:nvPr>
        </p:nvSpPr>
        <p:spPr>
          <a:xfrm>
            <a:off x="1598610" y="375082"/>
            <a:ext cx="10018713" cy="1000958"/>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IMPLEMENTATION</a:t>
            </a:r>
          </a:p>
        </p:txBody>
      </p:sp>
      <p:sp>
        <p:nvSpPr>
          <p:cNvPr id="3" name="Content Placeholder 2">
            <a:extLst>
              <a:ext uri="{FF2B5EF4-FFF2-40B4-BE49-F238E27FC236}">
                <a16:creationId xmlns:a16="http://schemas.microsoft.com/office/drawing/2014/main" id="{13A6548E-16F2-4E87-9F7D-B51DEB7EE572}"/>
              </a:ext>
            </a:extLst>
          </p:cNvPr>
          <p:cNvSpPr>
            <a:spLocks noGrp="1"/>
          </p:cNvSpPr>
          <p:nvPr>
            <p:ph sz="half" idx="1"/>
          </p:nvPr>
        </p:nvSpPr>
        <p:spPr>
          <a:xfrm>
            <a:off x="1598610" y="1376041"/>
            <a:ext cx="4895055" cy="4509857"/>
          </a:xfrm>
        </p:spPr>
        <p:txBody>
          <a:bodyPr>
            <a:normAutofit/>
          </a:bodyPr>
          <a:lstStyle/>
          <a:p>
            <a:pPr marL="0" indent="0">
              <a:buNone/>
            </a:pPr>
            <a:r>
              <a:rPr lang="en-US" sz="240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Python modules used in this project</a:t>
            </a:r>
          </a:p>
          <a:p>
            <a:pPr>
              <a:buFont typeface="Arial" panose="020B0604020202020204" pitchFamily="34" charset="0"/>
              <a:buChar char="•"/>
            </a:pPr>
            <a:r>
              <a:rPr lang="en-US" sz="2400">
                <a:latin typeface="Cambria" panose="02040503050406030204" pitchFamily="18" charset="0"/>
                <a:ea typeface="Cambria" panose="02040503050406030204" pitchFamily="18" charset="0"/>
              </a:rPr>
              <a:t>Numpy </a:t>
            </a:r>
          </a:p>
          <a:p>
            <a:pPr>
              <a:buFont typeface="Arial" panose="020B0604020202020204" pitchFamily="34" charset="0"/>
              <a:buChar char="•"/>
            </a:pPr>
            <a:r>
              <a:rPr lang="en-US" sz="2400">
                <a:latin typeface="Cambria" panose="02040503050406030204" pitchFamily="18" charset="0"/>
                <a:ea typeface="Cambria" panose="02040503050406030204" pitchFamily="18" charset="0"/>
              </a:rPr>
              <a:t>Os</a:t>
            </a:r>
          </a:p>
          <a:p>
            <a:pPr>
              <a:buFont typeface="Arial" panose="020B0604020202020204" pitchFamily="34" charset="0"/>
              <a:buChar char="•"/>
            </a:pPr>
            <a:r>
              <a:rPr lang="en-US" sz="2400">
                <a:latin typeface="Cambria" panose="02040503050406030204" pitchFamily="18" charset="0"/>
                <a:ea typeface="Cambria" panose="02040503050406030204" pitchFamily="18" charset="0"/>
              </a:rPr>
              <a:t>PyOpenGL</a:t>
            </a:r>
          </a:p>
          <a:p>
            <a:pPr>
              <a:buFont typeface="Arial" panose="020B0604020202020204" pitchFamily="34" charset="0"/>
              <a:buChar char="•"/>
            </a:pPr>
            <a:r>
              <a:rPr lang="en-US" sz="2400">
                <a:latin typeface="Cambria" panose="02040503050406030204" pitchFamily="18" charset="0"/>
                <a:ea typeface="Cambria" panose="02040503050406030204" pitchFamily="18" charset="0"/>
              </a:rPr>
              <a:t>PyOpenGL – accelerate</a:t>
            </a:r>
          </a:p>
          <a:p>
            <a:pPr>
              <a:buFont typeface="Arial" panose="020B0604020202020204" pitchFamily="34" charset="0"/>
              <a:buChar char="•"/>
            </a:pPr>
            <a:r>
              <a:rPr lang="en-US" sz="2400">
                <a:latin typeface="Cambria" panose="02040503050406030204" pitchFamily="18" charset="0"/>
                <a:ea typeface="Cambria" panose="02040503050406030204" pitchFamily="18" charset="0"/>
              </a:rPr>
              <a:t>Pillow </a:t>
            </a:r>
          </a:p>
          <a:p>
            <a:pPr>
              <a:buFont typeface="Arial" panose="020B0604020202020204" pitchFamily="34" charset="0"/>
              <a:buChar char="•"/>
            </a:pPr>
            <a:r>
              <a:rPr lang="en-US" sz="2400">
                <a:latin typeface="Cambria" panose="02040503050406030204" pitchFamily="18" charset="0"/>
                <a:ea typeface="Cambria" panose="02040503050406030204" pitchFamily="18" charset="0"/>
              </a:rPr>
              <a:t>Sys </a:t>
            </a:r>
          </a:p>
          <a:p>
            <a:pPr>
              <a:buFont typeface="Arial" panose="020B0604020202020204" pitchFamily="34" charset="0"/>
              <a:buChar char="•"/>
            </a:pPr>
            <a:r>
              <a:rPr lang="en-US" sz="2400">
                <a:latin typeface="Cambria" panose="02040503050406030204" pitchFamily="18" charset="0"/>
                <a:ea typeface="Cambria" panose="02040503050406030204" pitchFamily="18" charset="0"/>
              </a:rPr>
              <a:t>Time</a:t>
            </a:r>
            <a:r>
              <a:rPr lang="en-US" sz="2400"/>
              <a:t> </a:t>
            </a:r>
          </a:p>
        </p:txBody>
      </p:sp>
      <p:sp>
        <p:nvSpPr>
          <p:cNvPr id="4" name="Content Placeholder 3">
            <a:extLst>
              <a:ext uri="{FF2B5EF4-FFF2-40B4-BE49-F238E27FC236}">
                <a16:creationId xmlns:a16="http://schemas.microsoft.com/office/drawing/2014/main" id="{D0C2049A-F9AE-4D60-93A1-91AC5008373C}"/>
              </a:ext>
            </a:extLst>
          </p:cNvPr>
          <p:cNvSpPr>
            <a:spLocks noGrp="1"/>
          </p:cNvSpPr>
          <p:nvPr>
            <p:ph sz="half" idx="2"/>
          </p:nvPr>
        </p:nvSpPr>
        <p:spPr>
          <a:xfrm>
            <a:off x="6722267" y="1553592"/>
            <a:ext cx="4895056" cy="4509857"/>
          </a:xfrm>
        </p:spPr>
        <p:txBody>
          <a:bodyPr>
            <a:noAutofit/>
          </a:bodyPr>
          <a:lstStyle/>
          <a:p>
            <a:pPr marL="0" indent="0">
              <a:buNone/>
            </a:pPr>
            <a:r>
              <a:rPr lang="en-US" sz="160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Classes used in this project</a:t>
            </a:r>
          </a:p>
          <a:p>
            <a:r>
              <a:rPr lang="en-US" sz="1600">
                <a:latin typeface="Cambria" panose="02040503050406030204" pitchFamily="18" charset="0"/>
                <a:ea typeface="Cambria" panose="02040503050406030204" pitchFamily="18" charset="0"/>
              </a:rPr>
              <a:t>Camera class handles camera or viewpoint of the user.</a:t>
            </a:r>
          </a:p>
          <a:p>
            <a:r>
              <a:rPr lang="en-US" sz="1600">
                <a:latin typeface="Cambria" panose="02040503050406030204" pitchFamily="18" charset="0"/>
                <a:ea typeface="Cambria" panose="02040503050406030204" pitchFamily="18" charset="0"/>
              </a:rPr>
              <a:t>Controller class handles all the  controls of  the helicopter.</a:t>
            </a:r>
          </a:p>
          <a:p>
            <a:r>
              <a:rPr lang="en-US" sz="1600">
                <a:latin typeface="Cambria" panose="02040503050406030204" pitchFamily="18" charset="0"/>
                <a:ea typeface="Cambria" panose="02040503050406030204" pitchFamily="18" charset="0"/>
              </a:rPr>
              <a:t>Objloader class  loads the objects for different classes and functions.</a:t>
            </a:r>
          </a:p>
          <a:p>
            <a:r>
              <a:rPr lang="en-US" sz="1600">
                <a:latin typeface="Cambria" panose="02040503050406030204" pitchFamily="18" charset="0"/>
                <a:ea typeface="Cambria" panose="02040503050406030204" pitchFamily="18" charset="0"/>
              </a:rPr>
              <a:t>Scene class handles with the scenario.</a:t>
            </a:r>
          </a:p>
          <a:p>
            <a:r>
              <a:rPr lang="en-US" sz="1600">
                <a:latin typeface="Cambria" panose="02040503050406030204" pitchFamily="18" charset="0"/>
                <a:ea typeface="Cambria" panose="02040503050406030204" pitchFamily="18" charset="0"/>
              </a:rPr>
              <a:t>Sender class handles the calls and send parameters for the  functions.</a:t>
            </a:r>
          </a:p>
          <a:p>
            <a:r>
              <a:rPr lang="en-US" sz="1600">
                <a:latin typeface="Cambria" panose="02040503050406030204" pitchFamily="18" charset="0"/>
                <a:ea typeface="Cambria" panose="02040503050406030204" pitchFamily="18" charset="0"/>
              </a:rPr>
              <a:t> Simulation class is the main class that calls all other classes and assembles it for smooth output.</a:t>
            </a:r>
          </a:p>
          <a:p>
            <a:r>
              <a:rPr lang="en-US" sz="1600">
                <a:latin typeface="Cambria" panose="02040503050406030204" pitchFamily="18" charset="0"/>
                <a:ea typeface="Cambria" panose="02040503050406030204" pitchFamily="18" charset="0"/>
              </a:rPr>
              <a:t> Trafo class handles most of the matrix used by other classes.</a:t>
            </a:r>
          </a:p>
        </p:txBody>
      </p:sp>
    </p:spTree>
    <p:extLst>
      <p:ext uri="{BB962C8B-B14F-4D97-AF65-F5344CB8AC3E}">
        <p14:creationId xmlns:p14="http://schemas.microsoft.com/office/powerpoint/2010/main" val="2986823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7D094-1B32-49DC-87BC-A92D72C88E68}"/>
              </a:ext>
            </a:extLst>
          </p:cNvPr>
          <p:cNvSpPr>
            <a:spLocks noGrp="1"/>
          </p:cNvSpPr>
          <p:nvPr>
            <p:ph type="title"/>
          </p:nvPr>
        </p:nvSpPr>
        <p:spPr>
          <a:xfrm>
            <a:off x="1793919" y="82118"/>
            <a:ext cx="10018713" cy="956569"/>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TESTING AND DESIGN</a:t>
            </a:r>
            <a:endParaRPr lang="en-US"/>
          </a:p>
        </p:txBody>
      </p:sp>
      <p:graphicFrame>
        <p:nvGraphicFramePr>
          <p:cNvPr id="15" name="Table 15">
            <a:extLst>
              <a:ext uri="{FF2B5EF4-FFF2-40B4-BE49-F238E27FC236}">
                <a16:creationId xmlns:a16="http://schemas.microsoft.com/office/drawing/2014/main" id="{545334F3-4227-4CD6-9E78-7BFB5E42BD9C}"/>
              </a:ext>
            </a:extLst>
          </p:cNvPr>
          <p:cNvGraphicFramePr>
            <a:graphicFrameLocks noGrp="1"/>
          </p:cNvGraphicFramePr>
          <p:nvPr>
            <p:ph sz="half" idx="1"/>
            <p:extLst>
              <p:ext uri="{D42A27DB-BD31-4B8C-83A1-F6EECF244321}">
                <p14:modId xmlns:p14="http://schemas.microsoft.com/office/powerpoint/2010/main" val="3820890234"/>
              </p:ext>
            </p:extLst>
          </p:nvPr>
        </p:nvGraphicFramePr>
        <p:xfrm>
          <a:off x="1961965" y="1038688"/>
          <a:ext cx="9603247" cy="4745125"/>
        </p:xfrm>
        <a:graphic>
          <a:graphicData uri="http://schemas.openxmlformats.org/drawingml/2006/table">
            <a:tbl>
              <a:tblPr firstRow="1" bandRow="1">
                <a:tableStyleId>{5C22544A-7EE6-4342-B048-85BDC9FD1C3A}</a:tableStyleId>
              </a:tblPr>
              <a:tblGrid>
                <a:gridCol w="1615562">
                  <a:extLst>
                    <a:ext uri="{9D8B030D-6E8A-4147-A177-3AD203B41FA5}">
                      <a16:colId xmlns:a16="http://schemas.microsoft.com/office/drawing/2014/main" val="2993807380"/>
                    </a:ext>
                  </a:extLst>
                </a:gridCol>
                <a:gridCol w="1892110">
                  <a:extLst>
                    <a:ext uri="{9D8B030D-6E8A-4147-A177-3AD203B41FA5}">
                      <a16:colId xmlns:a16="http://schemas.microsoft.com/office/drawing/2014/main" val="2356383101"/>
                    </a:ext>
                  </a:extLst>
                </a:gridCol>
                <a:gridCol w="2274626">
                  <a:extLst>
                    <a:ext uri="{9D8B030D-6E8A-4147-A177-3AD203B41FA5}">
                      <a16:colId xmlns:a16="http://schemas.microsoft.com/office/drawing/2014/main" val="2508475186"/>
                    </a:ext>
                  </a:extLst>
                </a:gridCol>
                <a:gridCol w="2466377">
                  <a:extLst>
                    <a:ext uri="{9D8B030D-6E8A-4147-A177-3AD203B41FA5}">
                      <a16:colId xmlns:a16="http://schemas.microsoft.com/office/drawing/2014/main" val="4137668214"/>
                    </a:ext>
                  </a:extLst>
                </a:gridCol>
                <a:gridCol w="1354572">
                  <a:extLst>
                    <a:ext uri="{9D8B030D-6E8A-4147-A177-3AD203B41FA5}">
                      <a16:colId xmlns:a16="http://schemas.microsoft.com/office/drawing/2014/main" val="4113436738"/>
                    </a:ext>
                  </a:extLst>
                </a:gridCol>
              </a:tblGrid>
              <a:tr h="337386">
                <a:tc>
                  <a:txBody>
                    <a:bodyPr/>
                    <a:lstStyle/>
                    <a:p>
                      <a:r>
                        <a:rPr lang="en-US" sz="1400">
                          <a:latin typeface="Cambria" panose="02040503050406030204" pitchFamily="18" charset="0"/>
                          <a:ea typeface="Cambria" panose="02040503050406030204" pitchFamily="18" charset="0"/>
                        </a:rPr>
                        <a:t>Serial No.</a:t>
                      </a:r>
                    </a:p>
                  </a:txBody>
                  <a:tcPr/>
                </a:tc>
                <a:tc>
                  <a:txBody>
                    <a:bodyPr/>
                    <a:lstStyle/>
                    <a:p>
                      <a:r>
                        <a:rPr lang="en-US" sz="1400">
                          <a:latin typeface="Cambria" panose="02040503050406030204" pitchFamily="18" charset="0"/>
                          <a:ea typeface="Cambria" panose="02040503050406030204" pitchFamily="18" charset="0"/>
                        </a:rPr>
                        <a:t>Action Perfomed</a:t>
                      </a:r>
                    </a:p>
                  </a:txBody>
                  <a:tcPr/>
                </a:tc>
                <a:tc>
                  <a:txBody>
                    <a:bodyPr/>
                    <a:lstStyle/>
                    <a:p>
                      <a:r>
                        <a:rPr lang="en-US" sz="1400">
                          <a:latin typeface="Cambria" panose="02040503050406030204" pitchFamily="18" charset="0"/>
                          <a:ea typeface="Cambria" panose="02040503050406030204" pitchFamily="18" charset="0"/>
                        </a:rPr>
                        <a:t>Expected Output </a:t>
                      </a:r>
                    </a:p>
                  </a:txBody>
                  <a:tcPr/>
                </a:tc>
                <a:tc>
                  <a:txBody>
                    <a:bodyPr/>
                    <a:lstStyle/>
                    <a:p>
                      <a:r>
                        <a:rPr lang="en-US" sz="1400">
                          <a:latin typeface="Cambria" panose="02040503050406030204" pitchFamily="18" charset="0"/>
                          <a:ea typeface="Cambria" panose="02040503050406030204" pitchFamily="18" charset="0"/>
                        </a:rPr>
                        <a:t>Code Outcome</a:t>
                      </a:r>
                    </a:p>
                  </a:txBody>
                  <a:tcPr/>
                </a:tc>
                <a:tc>
                  <a:txBody>
                    <a:bodyPr/>
                    <a:lstStyle/>
                    <a:p>
                      <a:r>
                        <a:rPr lang="en-US" sz="1400">
                          <a:latin typeface="Cambria" panose="02040503050406030204" pitchFamily="18" charset="0"/>
                          <a:ea typeface="Cambria" panose="02040503050406030204" pitchFamily="18" charset="0"/>
                        </a:rPr>
                        <a:t>Pass/Fail</a:t>
                      </a:r>
                    </a:p>
                  </a:txBody>
                  <a:tcPr/>
                </a:tc>
                <a:extLst>
                  <a:ext uri="{0D108BD9-81ED-4DB2-BD59-A6C34878D82A}">
                    <a16:rowId xmlns:a16="http://schemas.microsoft.com/office/drawing/2014/main" val="2466657130"/>
                  </a:ext>
                </a:extLst>
              </a:tr>
              <a:tr h="527747">
                <a:tc>
                  <a:txBody>
                    <a:bodyPr/>
                    <a:lstStyle/>
                    <a:p>
                      <a:r>
                        <a:rPr lang="en-US" sz="1400">
                          <a:latin typeface="Cambria" panose="02040503050406030204" pitchFamily="18" charset="0"/>
                          <a:ea typeface="Cambria" panose="02040503050406030204" pitchFamily="18" charset="0"/>
                        </a:rPr>
                        <a:t>1</a:t>
                      </a:r>
                    </a:p>
                  </a:txBody>
                  <a:tcPr/>
                </a:tc>
                <a:tc>
                  <a:txBody>
                    <a:bodyPr/>
                    <a:lstStyle/>
                    <a:p>
                      <a:r>
                        <a:rPr lang="en-US" sz="1400">
                          <a:latin typeface="Cambria" panose="02040503050406030204" pitchFamily="18" charset="0"/>
                          <a:ea typeface="Cambria" panose="02040503050406030204" pitchFamily="18" charset="0"/>
                        </a:rPr>
                        <a:t>C key is pressed</a:t>
                      </a:r>
                    </a:p>
                  </a:txBody>
                  <a:tcPr/>
                </a:tc>
                <a:tc>
                  <a:txBody>
                    <a:bodyPr/>
                    <a:lstStyle/>
                    <a:p>
                      <a:r>
                        <a:rPr lang="en-US" sz="1400">
                          <a:latin typeface="Cambria" panose="02040503050406030204" pitchFamily="18" charset="0"/>
                          <a:ea typeface="Cambria" panose="02040503050406030204" pitchFamily="18" charset="0"/>
                        </a:rPr>
                        <a:t>Change of camera perspective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Camera  perspective is changed</a:t>
                      </a:r>
                      <a:endParaRPr lang="en-US" sz="1400">
                        <a:latin typeface="Cambria" panose="02040503050406030204" pitchFamily="18" charset="0"/>
                        <a:ea typeface="Cambria" panose="02040503050406030204" pitchFamily="18" charset="0"/>
                      </a:endParaRP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2780646424"/>
                  </a:ext>
                </a:extLst>
              </a:tr>
              <a:tr h="351107">
                <a:tc>
                  <a:txBody>
                    <a:bodyPr/>
                    <a:lstStyle/>
                    <a:p>
                      <a:r>
                        <a:rPr lang="en-US" sz="1400">
                          <a:latin typeface="Cambria" panose="02040503050406030204" pitchFamily="18" charset="0"/>
                          <a:ea typeface="Cambria" panose="02040503050406030204" pitchFamily="18" charset="0"/>
                        </a:rPr>
                        <a:t>2</a:t>
                      </a:r>
                    </a:p>
                  </a:txBody>
                  <a:tcPr/>
                </a:tc>
                <a:tc>
                  <a:txBody>
                    <a:bodyPr/>
                    <a:lstStyle/>
                    <a:p>
                      <a:r>
                        <a:rPr lang="en-US" sz="1400">
                          <a:latin typeface="Cambria" panose="02040503050406030204" pitchFamily="18" charset="0"/>
                          <a:ea typeface="Cambria" panose="02040503050406030204" pitchFamily="18" charset="0"/>
                        </a:rPr>
                        <a:t>A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Left rotation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Left rotation</a:t>
                      </a:r>
                    </a:p>
                  </a:txBody>
                  <a:tcPr/>
                </a:tc>
                <a:tc>
                  <a:txBody>
                    <a:bodyPr/>
                    <a:lstStyle/>
                    <a:p>
                      <a:r>
                        <a:rPr lang="en-US" sz="1400">
                          <a:latin typeface="Cambria" panose="02040503050406030204" pitchFamily="18" charset="0"/>
                          <a:ea typeface="Cambria" panose="02040503050406030204" pitchFamily="18" charset="0"/>
                        </a:rPr>
                        <a:t>Pass </a:t>
                      </a:r>
                    </a:p>
                  </a:txBody>
                  <a:tcPr/>
                </a:tc>
                <a:extLst>
                  <a:ext uri="{0D108BD9-81ED-4DB2-BD59-A6C34878D82A}">
                    <a16:rowId xmlns:a16="http://schemas.microsoft.com/office/drawing/2014/main" val="2174631931"/>
                  </a:ext>
                </a:extLst>
              </a:tr>
              <a:tr h="308150">
                <a:tc>
                  <a:txBody>
                    <a:bodyPr/>
                    <a:lstStyle/>
                    <a:p>
                      <a:r>
                        <a:rPr lang="en-US" sz="1400">
                          <a:latin typeface="Cambria" panose="02040503050406030204" pitchFamily="18" charset="0"/>
                          <a:ea typeface="Cambria" panose="02040503050406030204" pitchFamily="18" charset="0"/>
                        </a:rPr>
                        <a:t>3</a:t>
                      </a:r>
                    </a:p>
                  </a:txBody>
                  <a:tcPr/>
                </a:tc>
                <a:tc>
                  <a:txBody>
                    <a:bodyPr/>
                    <a:lstStyle/>
                    <a:p>
                      <a:r>
                        <a:rPr lang="en-US" sz="1400">
                          <a:latin typeface="Cambria" panose="02040503050406030204" pitchFamily="18" charset="0"/>
                          <a:ea typeface="Cambria" panose="02040503050406030204" pitchFamily="18" charset="0"/>
                        </a:rPr>
                        <a:t>D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Right rotation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Right rotation</a:t>
                      </a: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844794288"/>
                  </a:ext>
                </a:extLst>
              </a:tr>
              <a:tr h="325135">
                <a:tc>
                  <a:txBody>
                    <a:bodyPr/>
                    <a:lstStyle/>
                    <a:p>
                      <a:r>
                        <a:rPr lang="en-US" sz="1400">
                          <a:latin typeface="Cambria" panose="02040503050406030204" pitchFamily="18" charset="0"/>
                          <a:ea typeface="Cambria" panose="02040503050406030204" pitchFamily="18" charset="0"/>
                        </a:rPr>
                        <a:t>4</a:t>
                      </a:r>
                    </a:p>
                  </a:txBody>
                  <a:tcPr/>
                </a:tc>
                <a:tc>
                  <a:txBody>
                    <a:bodyPr/>
                    <a:lstStyle/>
                    <a:p>
                      <a:r>
                        <a:rPr lang="en-US" sz="1400">
                          <a:latin typeface="Cambria" panose="02040503050406030204" pitchFamily="18" charset="0"/>
                          <a:ea typeface="Cambria" panose="02040503050406030204" pitchFamily="18" charset="0"/>
                        </a:rPr>
                        <a:t>W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Vertically up</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Vertically up</a:t>
                      </a: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4268838737"/>
                  </a:ext>
                </a:extLst>
              </a:tr>
              <a:tr h="477963">
                <a:tc>
                  <a:txBody>
                    <a:bodyPr/>
                    <a:lstStyle/>
                    <a:p>
                      <a:r>
                        <a:rPr lang="en-US" sz="1400">
                          <a:latin typeface="Cambria" panose="02040503050406030204" pitchFamily="18" charset="0"/>
                          <a:ea typeface="Cambria" panose="02040503050406030204" pitchFamily="18" charset="0"/>
                        </a:rPr>
                        <a:t>5</a:t>
                      </a:r>
                    </a:p>
                  </a:txBody>
                  <a:tcPr/>
                </a:tc>
                <a:tc>
                  <a:txBody>
                    <a:bodyPr/>
                    <a:lstStyle/>
                    <a:p>
                      <a:r>
                        <a:rPr lang="en-US" sz="1400">
                          <a:latin typeface="Cambria" panose="02040503050406030204" pitchFamily="18" charset="0"/>
                          <a:ea typeface="Cambria" panose="02040503050406030204" pitchFamily="18" charset="0"/>
                        </a:rPr>
                        <a:t>S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Vertically down with main rotor blade in stop state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Vertically down with main rotor blade in stop state</a:t>
                      </a: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2506539010"/>
                  </a:ext>
                </a:extLst>
              </a:tr>
              <a:tr h="477963">
                <a:tc>
                  <a:txBody>
                    <a:bodyPr/>
                    <a:lstStyle/>
                    <a:p>
                      <a:r>
                        <a:rPr lang="en-US" sz="1400">
                          <a:latin typeface="Cambria" panose="02040503050406030204" pitchFamily="18" charset="0"/>
                          <a:ea typeface="Cambria" panose="02040503050406030204" pitchFamily="18" charset="0"/>
                        </a:rPr>
                        <a:t>6</a:t>
                      </a:r>
                    </a:p>
                  </a:txBody>
                  <a:tcPr/>
                </a:tc>
                <a:tc>
                  <a:txBody>
                    <a:bodyPr/>
                    <a:lstStyle/>
                    <a:p>
                      <a:r>
                        <a:rPr lang="en-US" sz="1400">
                          <a:latin typeface="Cambria" panose="02040503050406030204" pitchFamily="18" charset="0"/>
                          <a:ea typeface="Cambria" panose="02040503050406030204" pitchFamily="18" charset="0"/>
                        </a:rPr>
                        <a:t>J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upslope rolling motion towards left</a:t>
                      </a:r>
                      <a:endParaRPr lang="en-US" sz="1400">
                        <a:latin typeface="Cambria" panose="02040503050406030204" pitchFamily="18" charset="0"/>
                        <a:ea typeface="Cambria" panose="020405030504060302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upslope rolling motion towards left</a:t>
                      </a:r>
                      <a:endParaRPr lang="en-US" sz="1400">
                        <a:latin typeface="Cambria" panose="02040503050406030204" pitchFamily="18" charset="0"/>
                        <a:ea typeface="Cambria" panose="02040503050406030204" pitchFamily="18" charset="0"/>
                      </a:endParaRP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3022717444"/>
                  </a:ext>
                </a:extLst>
              </a:tr>
              <a:tr h="477963">
                <a:tc>
                  <a:txBody>
                    <a:bodyPr/>
                    <a:lstStyle/>
                    <a:p>
                      <a:r>
                        <a:rPr lang="en-US" sz="1400">
                          <a:latin typeface="Cambria" panose="02040503050406030204" pitchFamily="18" charset="0"/>
                          <a:ea typeface="Cambria" panose="02040503050406030204" pitchFamily="18" charset="0"/>
                        </a:rPr>
                        <a:t>7</a:t>
                      </a:r>
                    </a:p>
                  </a:txBody>
                  <a:tcPr/>
                </a:tc>
                <a:tc>
                  <a:txBody>
                    <a:bodyPr/>
                    <a:lstStyle/>
                    <a:p>
                      <a:r>
                        <a:rPr lang="en-US" sz="1400">
                          <a:latin typeface="Cambria" panose="02040503050406030204" pitchFamily="18" charset="0"/>
                          <a:ea typeface="Cambria" panose="02040503050406030204" pitchFamily="18" charset="0"/>
                        </a:rPr>
                        <a:t>L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upslope rolling motion towards right</a:t>
                      </a:r>
                      <a:endParaRPr lang="en-US" sz="1400">
                        <a:latin typeface="Cambria" panose="02040503050406030204" pitchFamily="18" charset="0"/>
                        <a:ea typeface="Cambria" panose="020405030504060302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upslope rolling motion towards right</a:t>
                      </a:r>
                      <a:endParaRPr lang="en-US" sz="1400">
                        <a:latin typeface="Cambria" panose="02040503050406030204" pitchFamily="18" charset="0"/>
                        <a:ea typeface="Cambria" panose="02040503050406030204" pitchFamily="18" charset="0"/>
                      </a:endParaRP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3716705837"/>
                  </a:ext>
                </a:extLst>
              </a:tr>
              <a:tr h="477963">
                <a:tc>
                  <a:txBody>
                    <a:bodyPr/>
                    <a:lstStyle/>
                    <a:p>
                      <a:r>
                        <a:rPr lang="en-US" sz="1400">
                          <a:latin typeface="Cambria" panose="02040503050406030204" pitchFamily="18" charset="0"/>
                          <a:ea typeface="Cambria" panose="02040503050406030204" pitchFamily="18" charset="0"/>
                        </a:rPr>
                        <a:t>8</a:t>
                      </a:r>
                    </a:p>
                  </a:txBody>
                  <a:tcPr/>
                </a:tc>
                <a:tc>
                  <a:txBody>
                    <a:bodyPr/>
                    <a:lstStyle/>
                    <a:p>
                      <a:r>
                        <a:rPr lang="en-US" sz="1400">
                          <a:latin typeface="Cambria" panose="02040503050406030204" pitchFamily="18" charset="0"/>
                          <a:ea typeface="Cambria" panose="02040503050406030204" pitchFamily="18" charset="0"/>
                        </a:rPr>
                        <a:t>I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upslope rolling motion forwards</a:t>
                      </a:r>
                      <a:endParaRPr lang="en-US" sz="1400">
                        <a:latin typeface="Cambria" panose="02040503050406030204" pitchFamily="18" charset="0"/>
                        <a:ea typeface="Cambria" panose="020405030504060302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upslope rolling motion forwards</a:t>
                      </a:r>
                      <a:endParaRPr lang="en-US" sz="1400">
                        <a:latin typeface="Cambria" panose="02040503050406030204" pitchFamily="18" charset="0"/>
                        <a:ea typeface="Cambria" panose="02040503050406030204" pitchFamily="18" charset="0"/>
                      </a:endParaRP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3534606708"/>
                  </a:ext>
                </a:extLst>
              </a:tr>
              <a:tr h="477963">
                <a:tc>
                  <a:txBody>
                    <a:bodyPr/>
                    <a:lstStyle/>
                    <a:p>
                      <a:r>
                        <a:rPr lang="en-US" sz="1400">
                          <a:latin typeface="Cambria" panose="02040503050406030204" pitchFamily="18" charset="0"/>
                          <a:ea typeface="Cambria" panose="02040503050406030204" pitchFamily="18" charset="0"/>
                        </a:rPr>
                        <a:t>9</a:t>
                      </a:r>
                    </a:p>
                  </a:txBody>
                  <a:tcPr/>
                </a:tc>
                <a:tc>
                  <a:txBody>
                    <a:bodyPr/>
                    <a:lstStyle/>
                    <a:p>
                      <a:r>
                        <a:rPr lang="en-US" sz="1400">
                          <a:latin typeface="Cambria" panose="02040503050406030204" pitchFamily="18" charset="0"/>
                          <a:ea typeface="Cambria" panose="02040503050406030204" pitchFamily="18" charset="0"/>
                        </a:rPr>
                        <a:t>K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upslope rolling motion backwards</a:t>
                      </a:r>
                      <a:endParaRPr lang="en-US" sz="1400">
                        <a:latin typeface="Cambria" panose="02040503050406030204" pitchFamily="18" charset="0"/>
                        <a:ea typeface="Cambria" panose="020405030504060302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a:solidFill>
                            <a:schemeClr val="dk1"/>
                          </a:solidFill>
                          <a:effectLst/>
                          <a:latin typeface="Cambria" panose="02040503050406030204" pitchFamily="18" charset="0"/>
                          <a:ea typeface="Cambria" panose="02040503050406030204" pitchFamily="18" charset="0"/>
                          <a:cs typeface="+mn-cs"/>
                        </a:rPr>
                        <a:t>upslope rolling motion backwards</a:t>
                      </a:r>
                      <a:endParaRPr lang="en-US" sz="1400">
                        <a:latin typeface="Cambria" panose="02040503050406030204" pitchFamily="18" charset="0"/>
                        <a:ea typeface="Cambria" panose="02040503050406030204" pitchFamily="18" charset="0"/>
                      </a:endParaRP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1564407165"/>
                  </a:ext>
                </a:extLst>
              </a:tr>
              <a:tr h="300350">
                <a:tc>
                  <a:txBody>
                    <a:bodyPr/>
                    <a:lstStyle/>
                    <a:p>
                      <a:r>
                        <a:rPr lang="en-US" sz="1400">
                          <a:latin typeface="Cambria" panose="02040503050406030204" pitchFamily="18" charset="0"/>
                          <a:ea typeface="Cambria" panose="02040503050406030204" pitchFamily="18" charset="0"/>
                        </a:rPr>
                        <a:t>10</a:t>
                      </a:r>
                    </a:p>
                  </a:txBody>
                  <a:tcPr/>
                </a:tc>
                <a:tc>
                  <a:txBody>
                    <a:bodyPr/>
                    <a:lstStyle/>
                    <a:p>
                      <a:r>
                        <a:rPr lang="en-US" sz="1400">
                          <a:latin typeface="Cambria" panose="02040503050406030204" pitchFamily="18" charset="0"/>
                          <a:ea typeface="Cambria" panose="02040503050406030204" pitchFamily="18" charset="0"/>
                        </a:rPr>
                        <a:t>Esc key is pressed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Exit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latin typeface="Cambria" panose="02040503050406030204" pitchFamily="18" charset="0"/>
                          <a:ea typeface="Cambria" panose="02040503050406030204" pitchFamily="18" charset="0"/>
                        </a:rPr>
                        <a:t>Exit </a:t>
                      </a:r>
                    </a:p>
                  </a:txBody>
                  <a:tcPr/>
                </a:tc>
                <a:tc>
                  <a:txBody>
                    <a:bodyPr/>
                    <a:lstStyle/>
                    <a:p>
                      <a:r>
                        <a:rPr lang="en-US" sz="1400">
                          <a:latin typeface="Cambria" panose="02040503050406030204" pitchFamily="18" charset="0"/>
                          <a:ea typeface="Cambria" panose="02040503050406030204" pitchFamily="18" charset="0"/>
                        </a:rPr>
                        <a:t>Pass</a:t>
                      </a:r>
                    </a:p>
                  </a:txBody>
                  <a:tcPr/>
                </a:tc>
                <a:extLst>
                  <a:ext uri="{0D108BD9-81ED-4DB2-BD59-A6C34878D82A}">
                    <a16:rowId xmlns:a16="http://schemas.microsoft.com/office/drawing/2014/main" val="3431930101"/>
                  </a:ext>
                </a:extLst>
              </a:tr>
            </a:tbl>
          </a:graphicData>
        </a:graphic>
      </p:graphicFrame>
    </p:spTree>
    <p:extLst>
      <p:ext uri="{BB962C8B-B14F-4D97-AF65-F5344CB8AC3E}">
        <p14:creationId xmlns:p14="http://schemas.microsoft.com/office/powerpoint/2010/main" val="2320378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5768-FC37-4A6D-AE5F-653C973C54C5}"/>
              </a:ext>
            </a:extLst>
          </p:cNvPr>
          <p:cNvSpPr>
            <a:spLocks noGrp="1"/>
          </p:cNvSpPr>
          <p:nvPr>
            <p:ph type="title"/>
          </p:nvPr>
        </p:nvSpPr>
        <p:spPr>
          <a:xfrm>
            <a:off x="1635232" y="213064"/>
            <a:ext cx="10018713" cy="878889"/>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Land view</a:t>
            </a:r>
          </a:p>
        </p:txBody>
      </p:sp>
      <p:pic>
        <p:nvPicPr>
          <p:cNvPr id="5" name="Content Placeholder 4">
            <a:extLst>
              <a:ext uri="{FF2B5EF4-FFF2-40B4-BE49-F238E27FC236}">
                <a16:creationId xmlns:a16="http://schemas.microsoft.com/office/drawing/2014/main" id="{CA2283E3-95FE-4115-9135-12355737B9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6346" y="1284876"/>
            <a:ext cx="5389697" cy="4288248"/>
          </a:xfrm>
        </p:spPr>
      </p:pic>
    </p:spTree>
    <p:extLst>
      <p:ext uri="{BB962C8B-B14F-4D97-AF65-F5344CB8AC3E}">
        <p14:creationId xmlns:p14="http://schemas.microsoft.com/office/powerpoint/2010/main" val="2615360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B7B7F-FD5E-46CA-BC49-C395F7A51B05}"/>
              </a:ext>
            </a:extLst>
          </p:cNvPr>
          <p:cNvSpPr>
            <a:spLocks noGrp="1"/>
          </p:cNvSpPr>
          <p:nvPr>
            <p:ph type="title"/>
          </p:nvPr>
        </p:nvSpPr>
        <p:spPr>
          <a:xfrm>
            <a:off x="1590843" y="190501"/>
            <a:ext cx="10198703" cy="1052374"/>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Top view</a:t>
            </a:r>
          </a:p>
        </p:txBody>
      </p:sp>
      <p:pic>
        <p:nvPicPr>
          <p:cNvPr id="5" name="Content Placeholder 4">
            <a:extLst>
              <a:ext uri="{FF2B5EF4-FFF2-40B4-BE49-F238E27FC236}">
                <a16:creationId xmlns:a16="http://schemas.microsoft.com/office/drawing/2014/main" id="{FF340618-21F6-4180-AFA7-F15D6DADF1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93447" y="1478645"/>
            <a:ext cx="6063111" cy="3900710"/>
          </a:xfrm>
        </p:spPr>
      </p:pic>
    </p:spTree>
    <p:extLst>
      <p:ext uri="{BB962C8B-B14F-4D97-AF65-F5344CB8AC3E}">
        <p14:creationId xmlns:p14="http://schemas.microsoft.com/office/powerpoint/2010/main" val="3696367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43130-89EC-4037-8B9F-FC9C6D06EE0B}"/>
              </a:ext>
            </a:extLst>
          </p:cNvPr>
          <p:cNvSpPr>
            <a:spLocks noGrp="1"/>
          </p:cNvSpPr>
          <p:nvPr>
            <p:ph type="title"/>
          </p:nvPr>
        </p:nvSpPr>
        <p:spPr>
          <a:xfrm>
            <a:off x="1617476" y="304061"/>
            <a:ext cx="10018713" cy="876670"/>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Back view</a:t>
            </a:r>
          </a:p>
        </p:txBody>
      </p:sp>
      <p:pic>
        <p:nvPicPr>
          <p:cNvPr id="5" name="Content Placeholder 4">
            <a:extLst>
              <a:ext uri="{FF2B5EF4-FFF2-40B4-BE49-F238E27FC236}">
                <a16:creationId xmlns:a16="http://schemas.microsoft.com/office/drawing/2014/main" id="{82DD3E2A-EC50-4567-8A29-CF88F14C4C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2276" y="1637190"/>
            <a:ext cx="6443059" cy="3974849"/>
          </a:xfrm>
        </p:spPr>
      </p:pic>
    </p:spTree>
    <p:extLst>
      <p:ext uri="{BB962C8B-B14F-4D97-AF65-F5344CB8AC3E}">
        <p14:creationId xmlns:p14="http://schemas.microsoft.com/office/powerpoint/2010/main" val="688880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713A-CB37-4773-B126-8612EE50E2E5}"/>
              </a:ext>
            </a:extLst>
          </p:cNvPr>
          <p:cNvSpPr>
            <a:spLocks noGrp="1"/>
          </p:cNvSpPr>
          <p:nvPr>
            <p:ph type="title"/>
          </p:nvPr>
        </p:nvSpPr>
        <p:spPr>
          <a:xfrm>
            <a:off x="1599721" y="268551"/>
            <a:ext cx="10018713" cy="921058"/>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Front view</a:t>
            </a:r>
          </a:p>
        </p:txBody>
      </p:sp>
      <p:pic>
        <p:nvPicPr>
          <p:cNvPr id="5" name="Content Placeholder 4">
            <a:extLst>
              <a:ext uri="{FF2B5EF4-FFF2-40B4-BE49-F238E27FC236}">
                <a16:creationId xmlns:a16="http://schemas.microsoft.com/office/drawing/2014/main" id="{A91EAA61-FF67-444C-8611-8A0BD6F179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33066" y="1504692"/>
            <a:ext cx="6705233" cy="4157994"/>
          </a:xfrm>
        </p:spPr>
      </p:pic>
    </p:spTree>
    <p:extLst>
      <p:ext uri="{BB962C8B-B14F-4D97-AF65-F5344CB8AC3E}">
        <p14:creationId xmlns:p14="http://schemas.microsoft.com/office/powerpoint/2010/main" val="1034394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B6A5A-7782-4F3B-BD62-122D83DE425C}"/>
              </a:ext>
            </a:extLst>
          </p:cNvPr>
          <p:cNvSpPr>
            <a:spLocks noGrp="1"/>
          </p:cNvSpPr>
          <p:nvPr>
            <p:ph type="title"/>
          </p:nvPr>
        </p:nvSpPr>
        <p:spPr>
          <a:xfrm>
            <a:off x="1644109" y="190501"/>
            <a:ext cx="10018713" cy="876300"/>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Long view </a:t>
            </a:r>
          </a:p>
        </p:txBody>
      </p:sp>
      <p:pic>
        <p:nvPicPr>
          <p:cNvPr id="5" name="Content Placeholder 4">
            <a:extLst>
              <a:ext uri="{FF2B5EF4-FFF2-40B4-BE49-F238E27FC236}">
                <a16:creationId xmlns:a16="http://schemas.microsoft.com/office/drawing/2014/main" id="{6AEBCF74-C0B6-44C9-9C38-462588FABD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6678" y="1264249"/>
            <a:ext cx="6312025" cy="4541927"/>
          </a:xfrm>
        </p:spPr>
      </p:pic>
    </p:spTree>
    <p:extLst>
      <p:ext uri="{BB962C8B-B14F-4D97-AF65-F5344CB8AC3E}">
        <p14:creationId xmlns:p14="http://schemas.microsoft.com/office/powerpoint/2010/main" val="2160789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BC9B4-6861-44E0-B537-EE8BA3C9A570}"/>
              </a:ext>
            </a:extLst>
          </p:cNvPr>
          <p:cNvSpPr>
            <a:spLocks noGrp="1"/>
          </p:cNvSpPr>
          <p:nvPr>
            <p:ph type="title"/>
          </p:nvPr>
        </p:nvSpPr>
        <p:spPr>
          <a:xfrm>
            <a:off x="1564210" y="401714"/>
            <a:ext cx="10018713" cy="867793"/>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CONCLUSION</a:t>
            </a:r>
          </a:p>
        </p:txBody>
      </p:sp>
      <p:sp>
        <p:nvSpPr>
          <p:cNvPr id="3" name="Content Placeholder 2">
            <a:extLst>
              <a:ext uri="{FF2B5EF4-FFF2-40B4-BE49-F238E27FC236}">
                <a16:creationId xmlns:a16="http://schemas.microsoft.com/office/drawing/2014/main" id="{FE613E20-74EF-40D3-AC0A-F905B37CD6C5}"/>
              </a:ext>
            </a:extLst>
          </p:cNvPr>
          <p:cNvSpPr>
            <a:spLocks noGrp="1"/>
          </p:cNvSpPr>
          <p:nvPr>
            <p:ph idx="1"/>
          </p:nvPr>
        </p:nvSpPr>
        <p:spPr>
          <a:xfrm>
            <a:off x="1564210" y="1491449"/>
            <a:ext cx="10018713" cy="4290874"/>
          </a:xfrm>
        </p:spPr>
        <p:txBody>
          <a:bodyPr>
            <a:normAutofit/>
          </a:bodyPr>
          <a:lstStyle/>
          <a:p>
            <a:r>
              <a:rPr lang="en-US" sz="2800">
                <a:latin typeface="Cambria" panose="02040503050406030204" pitchFamily="18" charset="0"/>
                <a:ea typeface="Cambria" panose="02040503050406030204" pitchFamily="18" charset="0"/>
              </a:rPr>
              <a:t>From the graphics which have been rendered by changing the camera perspectives, the user can have an effective and easy access to the controls of the helicopter. </a:t>
            </a:r>
          </a:p>
          <a:p>
            <a:r>
              <a:rPr lang="en-US" sz="2800">
                <a:latin typeface="Cambria" panose="02040503050406030204" pitchFamily="18" charset="0"/>
                <a:ea typeface="Cambria" panose="02040503050406030204" pitchFamily="18" charset="0"/>
              </a:rPr>
              <a:t> The graphics is visually appealing for the user.</a:t>
            </a:r>
          </a:p>
          <a:p>
            <a:r>
              <a:rPr lang="en-US" sz="2800">
                <a:latin typeface="Cambria" panose="02040503050406030204" pitchFamily="18" charset="0"/>
                <a:ea typeface="Cambria" panose="02040503050406030204" pitchFamily="18" charset="0"/>
              </a:rPr>
              <a:t>Easy code understandable by the user.</a:t>
            </a:r>
          </a:p>
        </p:txBody>
      </p:sp>
    </p:spTree>
    <p:extLst>
      <p:ext uri="{BB962C8B-B14F-4D97-AF65-F5344CB8AC3E}">
        <p14:creationId xmlns:p14="http://schemas.microsoft.com/office/powerpoint/2010/main" val="2823475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FA407-62E6-47BF-91D1-445A56C71B05}"/>
              </a:ext>
            </a:extLst>
          </p:cNvPr>
          <p:cNvSpPr>
            <a:spLocks noGrp="1"/>
          </p:cNvSpPr>
          <p:nvPr>
            <p:ph type="title"/>
          </p:nvPr>
        </p:nvSpPr>
        <p:spPr>
          <a:xfrm>
            <a:off x="1581966" y="348449"/>
            <a:ext cx="10018713" cy="876670"/>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FUTURE ENHANCEMENTS</a:t>
            </a:r>
          </a:p>
        </p:txBody>
      </p:sp>
      <p:sp>
        <p:nvSpPr>
          <p:cNvPr id="3" name="Content Placeholder 2">
            <a:extLst>
              <a:ext uri="{FF2B5EF4-FFF2-40B4-BE49-F238E27FC236}">
                <a16:creationId xmlns:a16="http://schemas.microsoft.com/office/drawing/2014/main" id="{5BA326F9-32DA-4AAA-B4C2-43A30D2836E0}"/>
              </a:ext>
            </a:extLst>
          </p:cNvPr>
          <p:cNvSpPr>
            <a:spLocks noGrp="1"/>
          </p:cNvSpPr>
          <p:nvPr>
            <p:ph idx="1"/>
          </p:nvPr>
        </p:nvSpPr>
        <p:spPr>
          <a:xfrm>
            <a:off x="1581966" y="1447061"/>
            <a:ext cx="10018713" cy="4344140"/>
          </a:xfrm>
        </p:spPr>
        <p:txBody>
          <a:bodyPr>
            <a:normAutofit/>
          </a:bodyPr>
          <a:lstStyle/>
          <a:p>
            <a:r>
              <a:rPr lang="en-US" sz="2800">
                <a:latin typeface="Cambria" panose="02040503050406030204" pitchFamily="18" charset="0"/>
                <a:ea typeface="Cambria" panose="02040503050406030204" pitchFamily="18" charset="0"/>
              </a:rPr>
              <a:t> Adding dynamic color and textures </a:t>
            </a:r>
          </a:p>
          <a:p>
            <a:r>
              <a:rPr lang="en-US" sz="2800">
                <a:latin typeface="Cambria" panose="02040503050406030204" pitchFamily="18" charset="0"/>
                <a:ea typeface="Cambria" panose="02040503050406030204" pitchFamily="18" charset="0"/>
              </a:rPr>
              <a:t>Have a stable clipping window </a:t>
            </a:r>
          </a:p>
          <a:p>
            <a:r>
              <a:rPr lang="en-US" sz="2800">
                <a:latin typeface="Cambria" panose="02040503050406030204" pitchFamily="18" charset="0"/>
                <a:ea typeface="Cambria" panose="02040503050406030204" pitchFamily="18" charset="0"/>
              </a:rPr>
              <a:t>Make user controls  smoother</a:t>
            </a:r>
          </a:p>
          <a:p>
            <a:r>
              <a:rPr lang="en-US" sz="2800">
                <a:latin typeface="Cambria" panose="02040503050406030204" pitchFamily="18" charset="0"/>
                <a:ea typeface="Cambria" panose="02040503050406030204" pitchFamily="18" charset="0"/>
              </a:rPr>
              <a:t> Better image rendering </a:t>
            </a:r>
          </a:p>
          <a:p>
            <a:r>
              <a:rPr lang="en-US" sz="2800">
                <a:latin typeface="Cambria" panose="02040503050406030204" pitchFamily="18" charset="0"/>
                <a:ea typeface="Cambria" panose="02040503050406030204" pitchFamily="18" charset="0"/>
              </a:rPr>
              <a:t>Reducing the complexity of the program</a:t>
            </a:r>
          </a:p>
        </p:txBody>
      </p:sp>
    </p:spTree>
    <p:extLst>
      <p:ext uri="{BB962C8B-B14F-4D97-AF65-F5344CB8AC3E}">
        <p14:creationId xmlns:p14="http://schemas.microsoft.com/office/powerpoint/2010/main" val="3102992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6B93-AA6A-41D4-9B43-3009A24A1DAD}"/>
              </a:ext>
            </a:extLst>
          </p:cNvPr>
          <p:cNvSpPr>
            <a:spLocks noGrp="1"/>
          </p:cNvSpPr>
          <p:nvPr>
            <p:ph type="title"/>
          </p:nvPr>
        </p:nvSpPr>
        <p:spPr>
          <a:xfrm>
            <a:off x="1590843" y="295183"/>
            <a:ext cx="10018713" cy="929936"/>
          </a:xfrm>
        </p:spPr>
        <p:txBody>
          <a:bodyPr/>
          <a:lstStyle/>
          <a:p>
            <a:r>
              <a:rPr lang="en-US">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REFERENCES</a:t>
            </a:r>
          </a:p>
        </p:txBody>
      </p:sp>
      <p:sp>
        <p:nvSpPr>
          <p:cNvPr id="3" name="Content Placeholder 2">
            <a:extLst>
              <a:ext uri="{FF2B5EF4-FFF2-40B4-BE49-F238E27FC236}">
                <a16:creationId xmlns:a16="http://schemas.microsoft.com/office/drawing/2014/main" id="{BFBAED24-680C-41B9-B313-BC1B05C71BAE}"/>
              </a:ext>
            </a:extLst>
          </p:cNvPr>
          <p:cNvSpPr>
            <a:spLocks noGrp="1"/>
          </p:cNvSpPr>
          <p:nvPr>
            <p:ph idx="1"/>
          </p:nvPr>
        </p:nvSpPr>
        <p:spPr>
          <a:xfrm>
            <a:off x="1590843" y="1429306"/>
            <a:ext cx="10018713" cy="4353018"/>
          </a:xfrm>
        </p:spPr>
        <p:txBody>
          <a:bodyPr>
            <a:normAutofit lnSpcReduction="10000"/>
          </a:bodyPr>
          <a:lstStyle/>
          <a:p>
            <a:r>
              <a:rPr lang="en-US" sz="2800">
                <a:latin typeface="Cambria" panose="02040503050406030204" pitchFamily="18" charset="0"/>
                <a:ea typeface="Cambria" panose="02040503050406030204" pitchFamily="18" charset="0"/>
              </a:rPr>
              <a:t>Donald Hearn &amp; Pauline Baker: Computer Graphics with OpenGL Version, 4thEdition, Pearson Education,2011</a:t>
            </a:r>
          </a:p>
          <a:p>
            <a:r>
              <a:rPr lang="en-US" sz="2800">
                <a:latin typeface="Cambria" panose="02040503050406030204" pitchFamily="18" charset="0"/>
                <a:ea typeface="Cambria" panose="02040503050406030204" pitchFamily="18" charset="0"/>
              </a:rPr>
              <a:t>Edward Angel: Interactive Computer Graphics- A Top Down approach with OpenGL, 5th edition. Pearson Education, 2008</a:t>
            </a:r>
          </a:p>
          <a:p>
            <a:r>
              <a:rPr lang="en-US" sz="2800" u="sng">
                <a:latin typeface="Cambria" panose="02040503050406030204" pitchFamily="18" charset="0"/>
                <a:ea typeface="Cambria" panose="02040503050406030204" pitchFamily="18" charset="0"/>
                <a:hlinkClick r:id="rId2"/>
              </a:rPr>
              <a:t>https://www.opengl.org/</a:t>
            </a:r>
            <a:endParaRPr lang="en-US" sz="2800">
              <a:latin typeface="Cambria" panose="02040503050406030204" pitchFamily="18" charset="0"/>
              <a:ea typeface="Cambria" panose="02040503050406030204" pitchFamily="18" charset="0"/>
            </a:endParaRPr>
          </a:p>
          <a:p>
            <a:r>
              <a:rPr lang="en-US" sz="2800" u="sng">
                <a:latin typeface="Cambria" panose="02040503050406030204" pitchFamily="18" charset="0"/>
                <a:ea typeface="Cambria" panose="02040503050406030204" pitchFamily="18" charset="0"/>
                <a:hlinkClick r:id="rId3"/>
              </a:rPr>
              <a:t>http://pyopengl.sourceforge.net/documentation/index.html</a:t>
            </a:r>
            <a:endParaRPr lang="en-US" sz="2800">
              <a:latin typeface="Cambria" panose="02040503050406030204" pitchFamily="18" charset="0"/>
              <a:ea typeface="Cambria" panose="02040503050406030204" pitchFamily="18" charset="0"/>
            </a:endParaRPr>
          </a:p>
          <a:p>
            <a:r>
              <a:rPr lang="en-US" sz="2800" u="sng">
                <a:latin typeface="Cambria" panose="02040503050406030204" pitchFamily="18" charset="0"/>
                <a:ea typeface="Cambria" panose="02040503050406030204" pitchFamily="18" charset="0"/>
                <a:hlinkClick r:id="rId4"/>
              </a:rPr>
              <a:t>https://pillow.readthedocs.io/en/stable/</a:t>
            </a:r>
            <a:br>
              <a:rPr lang="en-US" sz="2800">
                <a:latin typeface="Cambria" panose="02040503050406030204" pitchFamily="18" charset="0"/>
                <a:ea typeface="Cambria" panose="02040503050406030204" pitchFamily="18" charset="0"/>
              </a:rPr>
            </a:br>
            <a:br>
              <a:rPr lang="en-US"/>
            </a:br>
            <a:endParaRPr lang="en-US"/>
          </a:p>
        </p:txBody>
      </p:sp>
    </p:spTree>
    <p:extLst>
      <p:ext uri="{BB962C8B-B14F-4D97-AF65-F5344CB8AC3E}">
        <p14:creationId xmlns:p14="http://schemas.microsoft.com/office/powerpoint/2010/main" val="16729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6A05-8F01-43B3-B246-619FA78E7F4A}"/>
              </a:ext>
            </a:extLst>
          </p:cNvPr>
          <p:cNvSpPr>
            <a:spLocks noGrp="1"/>
          </p:cNvSpPr>
          <p:nvPr>
            <p:ph type="title"/>
          </p:nvPr>
        </p:nvSpPr>
        <p:spPr>
          <a:xfrm>
            <a:off x="2173287" y="3562165"/>
            <a:ext cx="10018713" cy="1752599"/>
          </a:xfrm>
        </p:spPr>
        <p:txBody>
          <a:bodyPr>
            <a:normAutofit/>
          </a:bodyPr>
          <a:lstStyle/>
          <a:p>
            <a:r>
              <a:rPr lang="en-US" sz="5400">
                <a:latin typeface="Cambria" panose="02040503050406030204" pitchFamily="18" charset="0"/>
                <a:ea typeface="Cambria" panose="02040503050406030204" pitchFamily="18" charset="0"/>
              </a:rPr>
              <a:t>                                 Thank you</a:t>
            </a:r>
          </a:p>
        </p:txBody>
      </p:sp>
    </p:spTree>
    <p:extLst>
      <p:ext uri="{BB962C8B-B14F-4D97-AF65-F5344CB8AC3E}">
        <p14:creationId xmlns:p14="http://schemas.microsoft.com/office/powerpoint/2010/main" val="12340618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939</TotalTime>
  <Words>864</Words>
  <Application>Microsoft Office PowerPoint</Application>
  <PresentationFormat>Widescreen</PresentationFormat>
  <Paragraphs>139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Cambria</vt:lpstr>
      <vt:lpstr>Corbel</vt:lpstr>
      <vt:lpstr>Wingdings</vt:lpstr>
      <vt:lpstr>Parallax</vt:lpstr>
      <vt:lpstr>HELICOPTER SIMULATION </vt:lpstr>
      <vt:lpstr>AGENDA</vt:lpstr>
      <vt:lpstr>ABTRACT</vt:lpstr>
      <vt:lpstr>INTRODUCTION</vt:lpstr>
      <vt:lpstr>SYSTEM REQUIREMENTS</vt:lpstr>
      <vt:lpstr>ABOUT THE PROJECT</vt:lpstr>
      <vt:lpstr>DETAILED DESIGN</vt:lpstr>
      <vt:lpstr>IMPLEMENTATION</vt:lpstr>
      <vt:lpstr>TESTING AND DESIGN</vt:lpstr>
      <vt:lpstr>Land view</vt:lpstr>
      <vt:lpstr>Top view</vt:lpstr>
      <vt:lpstr>Back view</vt:lpstr>
      <vt:lpstr>Front view</vt:lpstr>
      <vt:lpstr>Long view </vt:lpstr>
      <vt:lpstr>CONCLUSION</vt:lpstr>
      <vt:lpstr>FUTURE ENHANCEMENTS</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HELICOPTER</dc:title>
  <dc:creator>pjbahaduri7</dc:creator>
  <cp:lastModifiedBy>Prachiti Bahaduri</cp:lastModifiedBy>
  <cp:revision>54</cp:revision>
  <dcterms:created xsi:type="dcterms:W3CDTF">2020-05-11T16:50:07Z</dcterms:created>
  <dcterms:modified xsi:type="dcterms:W3CDTF">2020-05-13T04:20:24Z</dcterms:modified>
</cp:coreProperties>
</file>